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1"/>
  </p:notesMasterIdLst>
  <p:sldIdLst>
    <p:sldId id="256" r:id="rId2"/>
    <p:sldId id="270" r:id="rId3"/>
    <p:sldId id="271" r:id="rId4"/>
    <p:sldId id="273" r:id="rId5"/>
    <p:sldId id="274" r:id="rId6"/>
    <p:sldId id="277" r:id="rId7"/>
    <p:sldId id="275" r:id="rId8"/>
    <p:sldId id="278" r:id="rId9"/>
    <p:sldId id="280" r:id="rId10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Montserrat Medium" panose="000006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08FF10-D692-451D-82C1-55803F77597F}">
  <a:tblStyle styleId="{2708FF10-D692-451D-82C1-55803F7759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5fc6f885e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25fc6f885e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0" y="1224892"/>
            <a:ext cx="4487400" cy="22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" y="3487508"/>
            <a:ext cx="44874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title"/>
          </p:nvPr>
        </p:nvSpPr>
        <p:spPr>
          <a:xfrm>
            <a:off x="297925" y="1267757"/>
            <a:ext cx="8433564" cy="1511100"/>
          </a:xfr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ru-RU" sz="2800" dirty="0">
                <a:solidFill>
                  <a:srgbClr val="FFC000"/>
                </a:solidFill>
              </a:rPr>
              <a:t>МАРТ 2025: КРИЗИС КОНВЕРСИЙ В ТАКСИ</a:t>
            </a:r>
            <a:br>
              <a:rPr lang="ru-RU" sz="2800" dirty="0"/>
            </a:br>
            <a:r>
              <a:rPr lang="ru-RU" sz="1600" dirty="0">
                <a:solidFill>
                  <a:schemeClr val="accent6"/>
                </a:solidFill>
              </a:rPr>
              <a:t>м</a:t>
            </a:r>
            <a:br>
              <a:rPr lang="ru-RU" sz="2800" dirty="0"/>
            </a:br>
            <a:r>
              <a:rPr lang="ru-RU" sz="2000" dirty="0"/>
              <a:t>Анализ причин просадки </a:t>
            </a:r>
            <a:r>
              <a:rPr lang="ru-RU" sz="2000" dirty="0" err="1"/>
              <a:t>Order</a:t>
            </a:r>
            <a:r>
              <a:rPr lang="ru-RU" sz="2000" dirty="0"/>
              <a:t>-</a:t>
            </a:r>
            <a:r>
              <a:rPr lang="de-DE" sz="2000" dirty="0" err="1"/>
              <a:t>to</a:t>
            </a:r>
            <a:r>
              <a:rPr lang="en-GB" sz="2000" dirty="0"/>
              <a:t>-</a:t>
            </a:r>
            <a:r>
              <a:rPr lang="ru-RU" sz="2000" dirty="0" err="1"/>
              <a:t>Trip</a:t>
            </a:r>
            <a:br>
              <a:rPr lang="ru-RU" sz="2000" dirty="0"/>
            </a:br>
            <a:r>
              <a:rPr lang="ru-RU" sz="2000" dirty="0"/>
              <a:t>Диагностика проблем по временным</a:t>
            </a:r>
            <a:br>
              <a:rPr lang="ru-RU" sz="2000" dirty="0"/>
            </a:br>
            <a:r>
              <a:rPr lang="ru-RU" sz="2000" dirty="0"/>
              <a:t>интервалам и </a:t>
            </a:r>
            <a:r>
              <a:rPr lang="ru-RU" sz="2000" dirty="0" err="1"/>
              <a:t>геозонам</a:t>
            </a:r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2638D7-A2C9-0673-C95E-136FB24AF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969275" y="1267757"/>
            <a:ext cx="48768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6881CD2-8845-2C4A-991B-E322A895B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015" y="1059252"/>
            <a:ext cx="3526561" cy="1823787"/>
          </a:xfrm>
        </p:spPr>
        <p:txBody>
          <a:bodyPr/>
          <a:lstStyle/>
          <a:p>
            <a:r>
              <a:rPr lang="ru-RU" sz="1200" dirty="0"/>
              <a:t>Видимые просадки в главной конверсии произошли </a:t>
            </a:r>
            <a:r>
              <a:rPr lang="ru-RU" sz="1200" b="1" dirty="0"/>
              <a:t>8, 22 и 30 марта</a:t>
            </a:r>
            <a:r>
              <a:rPr lang="ru-RU" sz="1200" dirty="0"/>
              <a:t>.</a:t>
            </a:r>
          </a:p>
          <a:p>
            <a:r>
              <a:rPr lang="ru-RU" sz="1200" dirty="0"/>
              <a:t>Разложение на промежуточные конверсии дало следующие результаты:</a:t>
            </a:r>
          </a:p>
          <a:p>
            <a:pPr lvl="1"/>
            <a:r>
              <a:rPr lang="ru-RU" dirty="0"/>
              <a:t>Видимо просела метрика</a:t>
            </a:r>
            <a:r>
              <a:rPr lang="ru-RU" b="1" dirty="0"/>
              <a:t> </a:t>
            </a:r>
            <a:r>
              <a:rPr lang="ru-RU" b="1" dirty="0" err="1"/>
              <a:t>order-to-offer</a:t>
            </a:r>
            <a:r>
              <a:rPr lang="ru-RU" dirty="0"/>
              <a:t>: система хуже искала и предлагала заказы водителям.</a:t>
            </a:r>
          </a:p>
          <a:p>
            <a:pPr lvl="1"/>
            <a:r>
              <a:rPr lang="ru-RU" dirty="0"/>
              <a:t>Видимо просела метрика </a:t>
            </a:r>
            <a:r>
              <a:rPr lang="ru-RU" b="1" dirty="0" err="1"/>
              <a:t>assign-to-arrive</a:t>
            </a:r>
            <a:r>
              <a:rPr lang="ru-RU" dirty="0"/>
              <a:t>: назначенные водители реже доезжали до точки подачи.</a:t>
            </a:r>
          </a:p>
          <a:p>
            <a:r>
              <a:rPr lang="ru-RU" sz="1200" dirty="0"/>
              <a:t>Статистический тест подтвердил, что просадки в эти дни </a:t>
            </a:r>
            <a:r>
              <a:rPr lang="ru-RU" sz="1200" b="1" dirty="0"/>
              <a:t>статистически</a:t>
            </a:r>
            <a:r>
              <a:rPr lang="ru-RU" sz="1200" dirty="0"/>
              <a:t> </a:t>
            </a:r>
            <a:r>
              <a:rPr lang="ru-RU" sz="1200" b="1" dirty="0"/>
              <a:t>значимы</a:t>
            </a:r>
            <a:r>
              <a:rPr lang="ru-RU" dirty="0"/>
              <a:t>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7E75F09-2964-1BDE-4AA5-265249D08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C000"/>
                </a:solidFill>
              </a:rPr>
              <a:t>Показатели конверсий по дням месяца</a:t>
            </a:r>
            <a:endParaRPr lang="en-GB" dirty="0">
              <a:solidFill>
                <a:srgbClr val="FFC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D92290-9D95-1C0E-E1BD-12FF4D483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863" y="1096829"/>
            <a:ext cx="4743879" cy="1879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825B791-E4E9-8D4D-8A34-7F97B9C4B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863" y="2976262"/>
            <a:ext cx="4743880" cy="1879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4492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874E-221C-2732-967B-0E6E3B65B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0BE6283-4FF0-2FEF-E9EB-1B88B2FCD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152475"/>
            <a:ext cx="3322200" cy="1823787"/>
          </a:xfrm>
        </p:spPr>
        <p:txBody>
          <a:bodyPr/>
          <a:lstStyle/>
          <a:p>
            <a:r>
              <a:rPr lang="ru-RU" sz="1200" b="1" dirty="0"/>
              <a:t>Поиск и предложение (</a:t>
            </a:r>
            <a:r>
              <a:rPr lang="ru-RU" sz="1200" dirty="0"/>
              <a:t>DST</a:t>
            </a:r>
            <a:r>
              <a:rPr lang="ru-RU" sz="1200" b="1" dirty="0"/>
              <a:t>):</a:t>
            </a:r>
            <a:r>
              <a:rPr lang="ru-RU" sz="1200" dirty="0"/>
              <a:t> время от создания заказа до предложения водителю было </a:t>
            </a:r>
            <a:r>
              <a:rPr lang="ru-RU" sz="1200" b="1" dirty="0"/>
              <a:t>статистически значимо выше</a:t>
            </a:r>
            <a:r>
              <a:rPr lang="ru-RU" sz="1200" dirty="0"/>
              <a:t>.</a:t>
            </a:r>
          </a:p>
          <a:p>
            <a:r>
              <a:rPr lang="ru-RU" sz="1200" b="1" dirty="0"/>
              <a:t>Подача машины (</a:t>
            </a:r>
            <a:r>
              <a:rPr lang="ru-RU" sz="1200" dirty="0"/>
              <a:t>ETA</a:t>
            </a:r>
            <a:r>
              <a:rPr lang="ru-RU" sz="1200" b="1" dirty="0"/>
              <a:t>):</a:t>
            </a:r>
            <a:r>
              <a:rPr lang="ru-RU" sz="1200" dirty="0"/>
              <a:t> время от назначения водителя до его прибытия к клиенту также </a:t>
            </a:r>
            <a:r>
              <a:rPr lang="ru-RU" sz="1200" b="1" dirty="0"/>
              <a:t>значительно возрастало</a:t>
            </a:r>
            <a:r>
              <a:rPr lang="ru-RU" sz="1200" dirty="0"/>
              <a:t>.</a:t>
            </a:r>
          </a:p>
          <a:p>
            <a:r>
              <a:rPr lang="ru-RU" sz="1200" dirty="0"/>
              <a:t>Как результат </a:t>
            </a:r>
            <a:r>
              <a:rPr lang="ru-RU" sz="1200" b="1" dirty="0"/>
              <a:t>э</a:t>
            </a:r>
            <a:r>
              <a:rPr lang="ru-RU" sz="1200" dirty="0"/>
              <a:t>ти задержки напрямую привели к просадкам в конверсиях на этапах </a:t>
            </a:r>
            <a:r>
              <a:rPr lang="de-DE" sz="1200" dirty="0" err="1"/>
              <a:t>order</a:t>
            </a:r>
            <a:r>
              <a:rPr lang="en-GB" sz="1200" dirty="0"/>
              <a:t>-to-offer </a:t>
            </a:r>
            <a:r>
              <a:rPr lang="ru-RU" sz="1200" dirty="0"/>
              <a:t>и </a:t>
            </a:r>
            <a:r>
              <a:rPr lang="en-GB" sz="1200" dirty="0"/>
              <a:t>assign-to-arrive</a:t>
            </a:r>
            <a:r>
              <a:rPr lang="ru-RU" sz="1200" dirty="0"/>
              <a:t>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D282BF0-18EB-A791-D7C9-C034039FE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C000"/>
                </a:solidFill>
              </a:rPr>
              <a:t>Временные метрики по дням месяца</a:t>
            </a:r>
            <a:endParaRPr lang="en-GB" dirty="0">
              <a:solidFill>
                <a:srgbClr val="FFC000"/>
              </a:solidFill>
            </a:endParaRPr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A2563BF9-32B1-4DA0-5869-30775325E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629" y="973075"/>
            <a:ext cx="3944225" cy="390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859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65534-7788-59B7-DC36-578D30BDA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3F69E3F-5399-076C-1399-FA146027B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152475"/>
            <a:ext cx="3435651" cy="1823787"/>
          </a:xfrm>
        </p:spPr>
        <p:txBody>
          <a:bodyPr/>
          <a:lstStyle/>
          <a:p>
            <a:r>
              <a:rPr lang="ru-RU" sz="1200" b="1" dirty="0"/>
              <a:t>Конверсии</a:t>
            </a:r>
            <a:r>
              <a:rPr lang="ru-RU" sz="1200" dirty="0"/>
              <a:t> почасово не показали аномалий - воронка завершается равномерно в любое время суток</a:t>
            </a:r>
          </a:p>
          <a:p>
            <a:r>
              <a:rPr lang="ru-RU" sz="1200" dirty="0"/>
              <a:t>Однако, </a:t>
            </a:r>
            <a:r>
              <a:rPr lang="ru-RU" sz="1200" b="1" dirty="0"/>
              <a:t>временные метрики </a:t>
            </a:r>
            <a:r>
              <a:rPr lang="ru-RU" sz="1200" dirty="0"/>
              <a:t>выявили проблему:</a:t>
            </a:r>
          </a:p>
          <a:p>
            <a:pPr lvl="1"/>
            <a:r>
              <a:rPr lang="ru-RU" b="1" dirty="0"/>
              <a:t>DST</a:t>
            </a:r>
            <a:r>
              <a:rPr lang="ru-RU" dirty="0"/>
              <a:t> (время поиска) статистически значимо растёт в </a:t>
            </a:r>
            <a:r>
              <a:rPr lang="ru-RU" b="1" dirty="0"/>
              <a:t>часы пик </a:t>
            </a:r>
            <a:r>
              <a:rPr lang="ru-RU" dirty="0"/>
              <a:t>(7:00-10:00 и 17:00-20:00)</a:t>
            </a:r>
          </a:p>
          <a:p>
            <a:pPr lvl="1"/>
            <a:r>
              <a:rPr lang="ru-RU" b="1" dirty="0"/>
              <a:t>ETA</a:t>
            </a:r>
            <a:r>
              <a:rPr lang="ru-RU" dirty="0"/>
              <a:t> (время подачи) также значимо повышается в эти же периоды</a:t>
            </a:r>
          </a:p>
          <a:p>
            <a:r>
              <a:rPr lang="ru-RU" sz="1200" dirty="0"/>
              <a:t>Система справляется с объёмом (конверсии стабильны), но цена этого - </a:t>
            </a:r>
            <a:r>
              <a:rPr lang="ru-RU" sz="1200" b="1" dirty="0"/>
              <a:t>возросшее время ожидания для клиентов</a:t>
            </a:r>
            <a:endParaRPr lang="ru-RU" b="1" dirty="0"/>
          </a:p>
          <a:p>
            <a:endParaRPr lang="en-GB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CECC853-D442-01D0-183E-16E873A3E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C000"/>
                </a:solidFill>
              </a:rPr>
              <a:t>Временные метрики по суточным часам</a:t>
            </a:r>
            <a:endParaRPr lang="en-GB" dirty="0">
              <a:solidFill>
                <a:srgbClr val="FFC000"/>
              </a:solidFill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66DD2915-4A2F-959B-76CC-27410BC3F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350" y="1152475"/>
            <a:ext cx="3703100" cy="3665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390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8AD45-621A-3711-0B12-1A8CE0BCB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3DFEF6D-5601-5E38-AC97-07966E2D8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6551" y="1235843"/>
            <a:ext cx="3865450" cy="948303"/>
          </a:xfrm>
        </p:spPr>
        <p:txBody>
          <a:bodyPr/>
          <a:lstStyle/>
          <a:p>
            <a:pPr marL="139700" indent="0" latinLnBrk="1">
              <a:buNone/>
            </a:pPr>
            <a:r>
              <a:rPr lang="ru-RU" b="1" dirty="0"/>
              <a:t>Среднее заказов в час</a:t>
            </a:r>
            <a:r>
              <a:rPr lang="ru-RU" dirty="0"/>
              <a:t>: </a:t>
            </a:r>
            <a:endParaRPr lang="en-GB" dirty="0"/>
          </a:p>
          <a:p>
            <a:pPr marL="139700" indent="0" latinLnBrk="1">
              <a:buNone/>
            </a:pPr>
            <a:r>
              <a:rPr lang="ru-RU" dirty="0"/>
              <a:t>Пик</a:t>
            </a:r>
            <a:r>
              <a:rPr lang="en-GB" dirty="0"/>
              <a:t>=</a:t>
            </a:r>
            <a:r>
              <a:rPr lang="ru-RU" dirty="0"/>
              <a:t>10983, Обычные</a:t>
            </a:r>
            <a:r>
              <a:rPr lang="en-GB" dirty="0"/>
              <a:t>=</a:t>
            </a:r>
            <a:r>
              <a:rPr lang="ru-RU" dirty="0"/>
              <a:t>7919</a:t>
            </a:r>
            <a:r>
              <a:rPr lang="en-GB" dirty="0"/>
              <a:t>, </a:t>
            </a:r>
          </a:p>
          <a:p>
            <a:pPr marL="139700" indent="0" latinLnBrk="1">
              <a:buNone/>
            </a:pPr>
            <a:r>
              <a:rPr lang="ru-RU" b="1" dirty="0"/>
              <a:t>Конверсия в поездки</a:t>
            </a:r>
            <a:r>
              <a:rPr lang="ru-RU" dirty="0"/>
              <a:t>: </a:t>
            </a:r>
            <a:endParaRPr lang="en-GB" dirty="0"/>
          </a:p>
          <a:p>
            <a:pPr marL="139700" indent="0" latinLnBrk="1">
              <a:buNone/>
            </a:pPr>
            <a:r>
              <a:rPr lang="ru-RU" dirty="0"/>
              <a:t>Пик</a:t>
            </a:r>
            <a:r>
              <a:rPr lang="en-GB" dirty="0"/>
              <a:t>=</a:t>
            </a:r>
            <a:r>
              <a:rPr lang="ru-RU" dirty="0"/>
              <a:t>23.7%, Обычные</a:t>
            </a:r>
            <a:r>
              <a:rPr lang="en-GB" dirty="0"/>
              <a:t>=</a:t>
            </a:r>
            <a:r>
              <a:rPr lang="ru-RU" dirty="0"/>
              <a:t>23.</a:t>
            </a:r>
            <a:r>
              <a:rPr lang="en-GB" dirty="0"/>
              <a:t>4</a:t>
            </a:r>
            <a:r>
              <a:rPr lang="ru-RU" dirty="0"/>
              <a:t>%</a:t>
            </a:r>
          </a:p>
          <a:p>
            <a:pPr latinLnBrk="1"/>
            <a:endParaRPr lang="ru-RU" sz="1200" dirty="0"/>
          </a:p>
          <a:p>
            <a:pPr latinLnBrk="1"/>
            <a:endParaRPr lang="ru-RU" sz="1200" dirty="0"/>
          </a:p>
          <a:p>
            <a:pPr marL="139700" indent="0" latinLnBrk="1">
              <a:buNone/>
            </a:pPr>
            <a:r>
              <a:rPr lang="en-GB" sz="1800" b="1" i="1" dirty="0">
                <a:solidFill>
                  <a:srgbClr val="FFC000"/>
                </a:solidFill>
              </a:rPr>
              <a:t>Trips=</a:t>
            </a:r>
            <a:r>
              <a:rPr lang="en-GB" sz="1800" b="1" i="1" dirty="0" err="1">
                <a:solidFill>
                  <a:srgbClr val="FFC000"/>
                </a:solidFill>
              </a:rPr>
              <a:t>Orders⋅conv</a:t>
            </a:r>
            <a:br>
              <a:rPr lang="en-GB" sz="1800" b="1" i="1" dirty="0">
                <a:solidFill>
                  <a:srgbClr val="FFC000"/>
                </a:solidFill>
              </a:rPr>
            </a:br>
            <a:endParaRPr lang="ru-RU" sz="1800" b="1" i="1" dirty="0">
              <a:solidFill>
                <a:srgbClr val="FFC000"/>
              </a:solidFill>
            </a:endParaRPr>
          </a:p>
          <a:p>
            <a:pPr marL="139700" indent="0" latinLnBrk="1">
              <a:buNone/>
            </a:pPr>
            <a:endParaRPr lang="ru-RU" sz="1200" dirty="0"/>
          </a:p>
          <a:p>
            <a:pPr marL="139700" indent="0" latinLnBrk="1">
              <a:buNone/>
            </a:pPr>
            <a:r>
              <a:rPr lang="ru-RU" b="1" dirty="0"/>
              <a:t>Вывод</a:t>
            </a:r>
            <a:r>
              <a:rPr lang="ru-RU" dirty="0"/>
              <a:t>: </a:t>
            </a:r>
          </a:p>
          <a:p>
            <a:pPr marL="139700" indent="0" latinLnBrk="1">
              <a:buNone/>
            </a:pPr>
            <a:r>
              <a:rPr lang="ru-RU" dirty="0"/>
              <a:t>Основной драйвер роста поездок –</a:t>
            </a:r>
          </a:p>
          <a:p>
            <a:pPr marL="139700" indent="0" latinLnBrk="1">
              <a:buNone/>
            </a:pPr>
            <a:r>
              <a:rPr lang="ru-RU" dirty="0"/>
              <a:t>увеличение количества заказов.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B0BE35F-DF34-414F-A55F-9C364D2A0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C000"/>
                </a:solidFill>
              </a:rPr>
              <a:t>Факторный анализ количества поездок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EF57E88-0395-4DA7-5F9B-3E40249A3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090357"/>
            <a:ext cx="3801449" cy="373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2952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A5DE0-439D-702F-B6CB-AA107E8CE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1D73D5E-8DAF-1195-F5AE-EE791B6CE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015" y="1059252"/>
            <a:ext cx="3526561" cy="1823787"/>
          </a:xfrm>
        </p:spPr>
        <p:txBody>
          <a:bodyPr/>
          <a:lstStyle/>
          <a:p>
            <a:r>
              <a:rPr lang="ru-RU" sz="1200" dirty="0"/>
              <a:t>Видимые просадки в </a:t>
            </a:r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30D5461-324D-3CAE-1D1F-14F858A7B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C000"/>
                </a:solidFill>
              </a:rPr>
              <a:t>Показатели конверсий по дням и зонам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FED80BE-BAD1-EADF-59CB-934346DFA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15" y="973075"/>
            <a:ext cx="7913017" cy="391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297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82E59-856A-6D53-701E-3222CFEA5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Изображение выглядит как снимок экрана, кар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6061A79-9E2C-772A-EA6B-BD2873AC8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022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AA2B5-8036-A863-9487-EC3A5A9B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01E5C25-64C5-617F-56CC-7E0BCBEA7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152475"/>
            <a:ext cx="8135242" cy="1176333"/>
          </a:xfrm>
        </p:spPr>
        <p:txBody>
          <a:bodyPr/>
          <a:lstStyle/>
          <a:p>
            <a:pPr marL="139700" indent="0">
              <a:buNone/>
            </a:pPr>
            <a:r>
              <a:rPr lang="ru-RU" sz="1200" b="1" dirty="0">
                <a:solidFill>
                  <a:srgbClr val="FFC000"/>
                </a:solidFill>
              </a:rPr>
              <a:t>Аэропорты</a:t>
            </a:r>
            <a:r>
              <a:rPr lang="ru-RU" sz="1200" dirty="0"/>
              <a:t>: конверсия </a:t>
            </a:r>
            <a:r>
              <a:rPr lang="ru-RU" sz="1200" dirty="0" err="1"/>
              <a:t>order-to-offer</a:t>
            </a:r>
            <a:r>
              <a:rPr lang="ru-RU" sz="1200" dirty="0"/>
              <a:t> здесь значительно выше и близка к 100%, однако конверсия </a:t>
            </a:r>
            <a:r>
              <a:rPr lang="ru-RU" sz="1200" dirty="0" err="1"/>
              <a:t>offer-to-assign</a:t>
            </a:r>
            <a:r>
              <a:rPr lang="ru-RU" sz="1200" dirty="0"/>
              <a:t> значительно ниже. Это объясняется спецификой работы зоны: системой очередей и отсутствием штрафов за отказ от заказа.</a:t>
            </a:r>
          </a:p>
          <a:p>
            <a:pPr marL="139700" indent="0">
              <a:buNone/>
            </a:pPr>
            <a:endParaRPr lang="ru-RU" sz="1200" dirty="0"/>
          </a:p>
          <a:p>
            <a:pPr marL="139700" indent="0">
              <a:buNone/>
            </a:pPr>
            <a:r>
              <a:rPr lang="ru-RU" sz="1200" b="1" dirty="0">
                <a:solidFill>
                  <a:srgbClr val="FFC000"/>
                </a:solidFill>
              </a:rPr>
              <a:t>Зеленоград</a:t>
            </a:r>
            <a:r>
              <a:rPr lang="ru-RU" sz="1200" dirty="0"/>
              <a:t>: в этой зоне также наблюдается аномально низкая конверсия </a:t>
            </a:r>
            <a:r>
              <a:rPr lang="ru-RU" sz="1200" dirty="0" err="1"/>
              <a:t>offer-to-assign</a:t>
            </a:r>
            <a:r>
              <a:rPr lang="ru-RU" sz="1200" dirty="0"/>
              <a:t> по сравнению с обычными зонами, несмотря на высокий спрос и большое количество заказов. </a:t>
            </a:r>
          </a:p>
          <a:p>
            <a:pPr marL="139700" indent="0">
              <a:buNone/>
            </a:pPr>
            <a:endParaRPr lang="ru-RU" sz="120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C83CDA3-95B3-51D1-60CD-991323F58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C000"/>
                </a:solidFill>
              </a:rPr>
              <a:t>Показатели конверсий по дням и зонам</a:t>
            </a:r>
            <a:endParaRPr lang="en-GB" dirty="0">
              <a:solidFill>
                <a:srgbClr val="FFC000"/>
              </a:solidFill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A0620E2-6D8A-4845-470A-14C7D45A5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774" y="2574110"/>
            <a:ext cx="4693468" cy="2328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Текст 1">
            <a:extLst>
              <a:ext uri="{FF2B5EF4-FFF2-40B4-BE49-F238E27FC236}">
                <a16:creationId xmlns:a16="http://schemas.microsoft.com/office/drawing/2014/main" id="{3B803CBA-ECF5-AABE-AA93-5799DFFE5DFC}"/>
              </a:ext>
            </a:extLst>
          </p:cNvPr>
          <p:cNvSpPr txBox="1">
            <a:spLocks/>
          </p:cNvSpPr>
          <p:nvPr/>
        </p:nvSpPr>
        <p:spPr>
          <a:xfrm>
            <a:off x="720000" y="2433548"/>
            <a:ext cx="3547200" cy="182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139700" indent="0">
              <a:buNone/>
            </a:pPr>
            <a:r>
              <a:rPr lang="ru-RU" sz="1200" dirty="0"/>
              <a:t>Возможными причинами могут быть неоптимальное ценообразование или логистические особенности.</a:t>
            </a:r>
          </a:p>
          <a:p>
            <a:endParaRPr lang="ru-RU" sz="1200" dirty="0"/>
          </a:p>
          <a:p>
            <a:endParaRPr lang="ru-RU" sz="1200" dirty="0"/>
          </a:p>
          <a:p>
            <a:pPr marL="139700" indent="0">
              <a:buNone/>
            </a:pPr>
            <a:r>
              <a:rPr lang="ru-RU" sz="1200" dirty="0"/>
              <a:t>В результате </a:t>
            </a:r>
            <a:r>
              <a:rPr lang="ru-RU" sz="1200" b="1" dirty="0"/>
              <a:t>царь-метрика (конверсия из заказа в поездку) в этих зонах оказывается ниже</a:t>
            </a:r>
            <a:r>
              <a:rPr lang="ru-RU" sz="1200" dirty="0"/>
              <a:t>, хотя количество заказов существенно выше. </a:t>
            </a:r>
          </a:p>
          <a:p>
            <a:endParaRPr lang="ru-RU" sz="1100" dirty="0"/>
          </a:p>
          <a:p>
            <a:pPr marL="139700" indent="0">
              <a:buNone/>
            </a:pP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206906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21948-434E-C2B1-5694-DE53C32A7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92C24026-BE11-C989-3107-F6A7558DC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300" y="1283148"/>
            <a:ext cx="7687400" cy="2365143"/>
          </a:xfrm>
        </p:spPr>
        <p:txBody>
          <a:bodyPr/>
          <a:lstStyle/>
          <a:p>
            <a:r>
              <a:rPr lang="ru-RU" sz="1200" b="1" dirty="0"/>
              <a:t>Конверсия из заказа в поездку</a:t>
            </a:r>
            <a:r>
              <a:rPr lang="ru-RU" sz="1200" dirty="0"/>
              <a:t> в зонах ажиотажа снизилась на 25-38% по сравнению с обычными зонами</a:t>
            </a:r>
          </a:p>
          <a:p>
            <a:r>
              <a:rPr lang="ru-RU" sz="1200" b="1" dirty="0"/>
              <a:t>Временные метрики показали значительный рост</a:t>
            </a:r>
            <a:r>
              <a:rPr lang="ru-RU" sz="1200" dirty="0"/>
              <a:t>: </a:t>
            </a:r>
          </a:p>
          <a:p>
            <a:pPr lvl="1"/>
            <a:r>
              <a:rPr lang="ru-RU" b="1" dirty="0"/>
              <a:t>DST</a:t>
            </a:r>
            <a:r>
              <a:rPr lang="ru-RU" dirty="0"/>
              <a:t> увеличился в 3-4 раза: система дольше искала доступного водителя</a:t>
            </a:r>
          </a:p>
          <a:p>
            <a:pPr lvl="1"/>
            <a:r>
              <a:rPr lang="ru-RU" b="1" dirty="0"/>
              <a:t>ETA </a:t>
            </a:r>
            <a:r>
              <a:rPr lang="ru-RU" dirty="0"/>
              <a:t>вырос на 15–29%: водители дольше добирались до точки подачи после принятия заказа</a:t>
            </a:r>
          </a:p>
          <a:p>
            <a:r>
              <a:rPr lang="ru-RU" sz="1200" b="1" dirty="0"/>
              <a:t>Главной просадкой можно назвать этап </a:t>
            </a:r>
            <a:r>
              <a:rPr lang="de-DE" sz="1200" b="1" dirty="0"/>
              <a:t>Order</a:t>
            </a:r>
            <a:r>
              <a:rPr lang="en-GB" sz="1200" b="1" dirty="0"/>
              <a:t>-to-offer: </a:t>
            </a:r>
            <a:r>
              <a:rPr lang="ru-RU" sz="1200" dirty="0"/>
              <a:t>конверсия из заказа в предложение упала на 27-32%, что указывает на перегрузку системы в эти периоды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3D81134-D833-BF83-BC7C-CF9110F4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C000"/>
                </a:solidFill>
              </a:rPr>
              <a:t>Анализ изменений метрик в зонах ажиотажа</a:t>
            </a:r>
            <a:endParaRPr lang="en-GB" dirty="0">
              <a:solidFill>
                <a:srgbClr val="FFC000"/>
              </a:solidFill>
            </a:endParaRP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2F81E483-4960-DD7B-888F-30E64EE97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951583"/>
              </p:ext>
            </p:extLst>
          </p:nvPr>
        </p:nvGraphicFramePr>
        <p:xfrm>
          <a:off x="728300" y="3560163"/>
          <a:ext cx="7823730" cy="735844"/>
        </p:xfrm>
        <a:graphic>
          <a:graphicData uri="http://schemas.openxmlformats.org/drawingml/2006/table">
            <a:tbl>
              <a:tblPr>
                <a:tableStyleId>{2708FF10-D692-451D-82C1-55803F77597F}</a:tableStyleId>
              </a:tblPr>
              <a:tblGrid>
                <a:gridCol w="1118130">
                  <a:extLst>
                    <a:ext uri="{9D8B030D-6E8A-4147-A177-3AD203B41FA5}">
                      <a16:colId xmlns:a16="http://schemas.microsoft.com/office/drawing/2014/main" val="4196667814"/>
                    </a:ext>
                  </a:extLst>
                </a:gridCol>
                <a:gridCol w="1069426">
                  <a:extLst>
                    <a:ext uri="{9D8B030D-6E8A-4147-A177-3AD203B41FA5}">
                      <a16:colId xmlns:a16="http://schemas.microsoft.com/office/drawing/2014/main" val="306191827"/>
                    </a:ext>
                  </a:extLst>
                </a:gridCol>
                <a:gridCol w="1067635">
                  <a:extLst>
                    <a:ext uri="{9D8B030D-6E8A-4147-A177-3AD203B41FA5}">
                      <a16:colId xmlns:a16="http://schemas.microsoft.com/office/drawing/2014/main" val="4271678543"/>
                    </a:ext>
                  </a:extLst>
                </a:gridCol>
                <a:gridCol w="1185072">
                  <a:extLst>
                    <a:ext uri="{9D8B030D-6E8A-4147-A177-3AD203B41FA5}">
                      <a16:colId xmlns:a16="http://schemas.microsoft.com/office/drawing/2014/main" val="1875303794"/>
                    </a:ext>
                  </a:extLst>
                </a:gridCol>
                <a:gridCol w="919667">
                  <a:extLst>
                    <a:ext uri="{9D8B030D-6E8A-4147-A177-3AD203B41FA5}">
                      <a16:colId xmlns:a16="http://schemas.microsoft.com/office/drawing/2014/main" val="3625937539"/>
                    </a:ext>
                  </a:extLst>
                </a:gridCol>
                <a:gridCol w="883704">
                  <a:extLst>
                    <a:ext uri="{9D8B030D-6E8A-4147-A177-3AD203B41FA5}">
                      <a16:colId xmlns:a16="http://schemas.microsoft.com/office/drawing/2014/main" val="1047488547"/>
                    </a:ext>
                  </a:extLst>
                </a:gridCol>
                <a:gridCol w="309149">
                  <a:extLst>
                    <a:ext uri="{9D8B030D-6E8A-4147-A177-3AD203B41FA5}">
                      <a16:colId xmlns:a16="http://schemas.microsoft.com/office/drawing/2014/main" val="3033613227"/>
                    </a:ext>
                  </a:extLst>
                </a:gridCol>
                <a:gridCol w="455137">
                  <a:extLst>
                    <a:ext uri="{9D8B030D-6E8A-4147-A177-3AD203B41FA5}">
                      <a16:colId xmlns:a16="http://schemas.microsoft.com/office/drawing/2014/main" val="2256709672"/>
                    </a:ext>
                  </a:extLst>
                </a:gridCol>
                <a:gridCol w="417876">
                  <a:extLst>
                    <a:ext uri="{9D8B030D-6E8A-4147-A177-3AD203B41FA5}">
                      <a16:colId xmlns:a16="http://schemas.microsoft.com/office/drawing/2014/main" val="1588637195"/>
                    </a:ext>
                  </a:extLst>
                </a:gridCol>
                <a:gridCol w="397934">
                  <a:extLst>
                    <a:ext uri="{9D8B030D-6E8A-4147-A177-3AD203B41FA5}">
                      <a16:colId xmlns:a16="http://schemas.microsoft.com/office/drawing/2014/main" val="2874376079"/>
                    </a:ext>
                  </a:extLst>
                </a:gridCol>
              </a:tblGrid>
              <a:tr h="18396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100" b="1" u="none" strike="noStrike" dirty="0">
                          <a:effectLst/>
                        </a:rPr>
                        <a:t>Зона ажиотажа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Order-to-Offer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Offer-to-Assign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Assign-to-Arrive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Arrive-to-Trip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Order-to-Trip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DST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1" u="none" strike="noStrike">
                          <a:effectLst/>
                        </a:rPr>
                        <a:t>AT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ETA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TT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679068"/>
                  </a:ext>
                </a:extLst>
              </a:tr>
              <a:tr h="18396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100" b="1" u="none" strike="noStrike" dirty="0">
                          <a:effectLst/>
                        </a:rPr>
                        <a:t>Парк Горького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0.61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0.40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0.68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0.15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6.28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0.67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10.59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34.86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/>
                </a:tc>
                <a:extLst>
                  <a:ext uri="{0D108BD9-81ED-4DB2-BD59-A6C34878D82A}">
                    <a16:rowId xmlns:a16="http://schemas.microsoft.com/office/drawing/2014/main" val="3632836351"/>
                  </a:ext>
                </a:extLst>
              </a:tr>
              <a:tr h="18396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100" b="1" u="none" strike="noStrike" dirty="0">
                          <a:effectLst/>
                        </a:rPr>
                        <a:t>ВДНХ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0.65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0.42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0.70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0.18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4.31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0.66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9.41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33.64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/>
                </a:tc>
                <a:extLst>
                  <a:ext uri="{0D108BD9-81ED-4DB2-BD59-A6C34878D82A}">
                    <a16:rowId xmlns:a16="http://schemas.microsoft.com/office/drawing/2014/main" val="2755488313"/>
                  </a:ext>
                </a:extLst>
              </a:tr>
              <a:tr h="18396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100" b="1" u="none" strike="noStrike" dirty="0">
                          <a:effectLst/>
                        </a:rPr>
                        <a:t>Обычный день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0.89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0.36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0.80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0.94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0.24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1.29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0.67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1" u="none" strike="noStrike" dirty="0">
                          <a:effectLst/>
                        </a:rPr>
                        <a:t>8.19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34.24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3" marR="6343" marT="6343" marB="0" anchor="b"/>
                </a:tc>
                <a:extLst>
                  <a:ext uri="{0D108BD9-81ED-4DB2-BD59-A6C34878D82A}">
                    <a16:rowId xmlns:a16="http://schemas.microsoft.com/office/drawing/2014/main" val="382894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2876099"/>
      </p:ext>
    </p:extLst>
  </p:cSld>
  <p:clrMapOvr>
    <a:masterClrMapping/>
  </p:clrMapOvr>
</p:sld>
</file>

<file path=ppt/theme/theme1.xml><?xml version="1.0" encoding="utf-8"?>
<a:theme xmlns:a="http://schemas.openxmlformats.org/drawingml/2006/main" name="Productivity Pyramid Infographics by Slidesgo">
  <a:themeElements>
    <a:clrScheme name="Simple Light">
      <a:dk1>
        <a:srgbClr val="000000"/>
      </a:dk1>
      <a:lt1>
        <a:srgbClr val="FFFFFF"/>
      </a:lt1>
      <a:dk2>
        <a:srgbClr val="F9A44A"/>
      </a:dk2>
      <a:lt2>
        <a:srgbClr val="F47F61"/>
      </a:lt2>
      <a:accent1>
        <a:srgbClr val="55BCC7"/>
      </a:accent1>
      <a:accent2>
        <a:srgbClr val="47A5D9"/>
      </a:accent2>
      <a:accent3>
        <a:srgbClr val="8D85AC"/>
      </a:accent3>
      <a:accent4>
        <a:srgbClr val="4B657E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494</Words>
  <Application>Microsoft Office PowerPoint</Application>
  <PresentationFormat>Экран (16:9)</PresentationFormat>
  <Paragraphs>85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Montserrat</vt:lpstr>
      <vt:lpstr>Montserrat Medium</vt:lpstr>
      <vt:lpstr>Calibri</vt:lpstr>
      <vt:lpstr>Arial</vt:lpstr>
      <vt:lpstr>Productivity Pyramid Infographics by Slidesgo</vt:lpstr>
      <vt:lpstr>МАРТ 2025: КРИЗИС КОНВЕРСИЙ В ТАКСИ м Анализ причин просадки Order-to-Trip Диагностика проблем по временным интервалам и геозонам</vt:lpstr>
      <vt:lpstr>Показатели конверсий по дням месяца</vt:lpstr>
      <vt:lpstr>Временные метрики по дням месяца</vt:lpstr>
      <vt:lpstr>Временные метрики по суточным часам</vt:lpstr>
      <vt:lpstr>Факторный анализ количества поездок</vt:lpstr>
      <vt:lpstr>Показатели конверсий по дням и зонам</vt:lpstr>
      <vt:lpstr>Презентация PowerPoint</vt:lpstr>
      <vt:lpstr>Показатели конверсий по дням и зонам</vt:lpstr>
      <vt:lpstr>Анализ изменений метрик в зонах ажиотажа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Чибрик Михаела -</cp:lastModifiedBy>
  <cp:revision>2</cp:revision>
  <dcterms:modified xsi:type="dcterms:W3CDTF">2025-12-07T08:23:36Z</dcterms:modified>
</cp:coreProperties>
</file>